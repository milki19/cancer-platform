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9" r:id="rId6"/>
    <p:sldId id="318" r:id="rId7"/>
    <p:sldId id="319" r:id="rId8"/>
    <p:sldId id="320" r:id="rId9"/>
    <p:sldId id="321" r:id="rId10"/>
    <p:sldId id="323" r:id="rId11"/>
    <p:sldId id="324" r:id="rId12"/>
    <p:sldId id="326" r:id="rId13"/>
    <p:sldId id="325" r:id="rId14"/>
    <p:sldId id="327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405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sr-Latn-RS" sz="1400" b="0" i="0" u="none" strike="noStrike" kern="1200" spc="0" baseline="0" noProof="0" dirty="0">
                <a:solidFill>
                  <a:srgbClr val="543E34">
                    <a:lumMod val="65000"/>
                    <a:lumOff val="35000"/>
                  </a:srgbClr>
                </a:solidFill>
              </a:rPr>
              <a:t>Podela podataka</a:t>
            </a:r>
            <a:endParaRPr lang="sr-Latn-RS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1.5</c:v>
                </c:pt>
                <c:pt idx="2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E-4773-A86E-534A66CE3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857249"/>
            <a:ext cx="10360152" cy="3357564"/>
          </a:xfrm>
        </p:spPr>
        <p:txBody>
          <a:bodyPr anchor="ctr"/>
          <a:lstStyle/>
          <a:p>
            <a:r>
              <a:rPr lang="sr-Latn-RS" noProof="0" dirty="0"/>
              <a:t>Evaluacija i poređenje modela mašinskog učenja na heterogenim onkološkim datasetovima</a:t>
            </a: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F57EC5FD-57B3-9A39-DF63-AB5B5300E35A}"/>
              </a:ext>
            </a:extLst>
          </p:cNvPr>
          <p:cNvSpPr txBox="1">
            <a:spLocks/>
          </p:cNvSpPr>
          <p:nvPr/>
        </p:nvSpPr>
        <p:spPr>
          <a:xfrm>
            <a:off x="157163" y="4214813"/>
            <a:ext cx="11872912" cy="2200273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sr-Latn-RS" sz="2400" noProof="0" dirty="0">
                <a:solidFill>
                  <a:schemeClr val="dk1"/>
                </a:solidFill>
                <a:ea typeface="Open Sans"/>
              </a:rPr>
              <a:t>Računarski fakutlet univerziteta Union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sr-Latn-RS" sz="1600" noProof="0" dirty="0">
              <a:solidFill>
                <a:schemeClr val="dk1"/>
              </a:solidFill>
              <a:ea typeface="Open Sans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sr-Latn-RS" sz="1600" noProof="0" dirty="0">
              <a:solidFill>
                <a:schemeClr val="dk1"/>
              </a:solidFill>
              <a:ea typeface="Open Sans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sr-Latn-RS" sz="1200" noProof="0" dirty="0">
              <a:solidFill>
                <a:schemeClr val="dk1"/>
              </a:solidFill>
              <a:ea typeface="Open Sans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sr-Latn-RS" sz="2000" noProof="0" dirty="0">
                <a:solidFill>
                  <a:schemeClr val="dk1"/>
                </a:solidFill>
                <a:ea typeface="Open Sans"/>
              </a:rPr>
              <a:t>Student: Stefan Milić 122/2022 RN</a:t>
            </a: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sr-Latn-RS" sz="2000" noProof="0" dirty="0">
                <a:solidFill>
                  <a:schemeClr val="dk1"/>
                </a:solidFill>
                <a:ea typeface="Open Sans"/>
              </a:rPr>
              <a:t>Mentor: prof. Dr. Jelena Vasiljević</a:t>
            </a: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sr-Latn-RS" sz="2000" noProof="0" dirty="0">
                <a:solidFill>
                  <a:schemeClr val="dk1"/>
                </a:solidFill>
                <a:ea typeface="Open Sans"/>
              </a:rPr>
              <a:t>27. Marta 2026, Beograd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3200" noProof="0" dirty="0"/>
              <a:t>Motivacija i cilj</a:t>
            </a:r>
            <a:endParaRPr lang="sr-Latn-R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r>
              <a:rPr lang="sr-Latn-RS" noProof="0" dirty="0"/>
              <a:t>AI u medicini</a:t>
            </a:r>
          </a:p>
          <a:p>
            <a:pPr lvl="1"/>
            <a:r>
              <a:rPr lang="sr-Latn-RS" noProof="0" dirty="0"/>
              <a:t>ML modeli za analizu medicinskih podataka</a:t>
            </a:r>
          </a:p>
          <a:p>
            <a:r>
              <a:rPr lang="sr-Latn-RS" noProof="0" dirty="0"/>
              <a:t>Problem </a:t>
            </a:r>
          </a:p>
          <a:p>
            <a:pPr lvl="1"/>
            <a:r>
              <a:rPr lang="sr-Latn-RS" noProof="0" dirty="0"/>
              <a:t>Visoke metrike mogu biti varljive bez dobre evaluacije</a:t>
            </a:r>
          </a:p>
          <a:p>
            <a:r>
              <a:rPr lang="sr-Latn-RS" noProof="0" dirty="0"/>
              <a:t>Cilj rada</a:t>
            </a:r>
          </a:p>
          <a:p>
            <a:pPr lvl="1"/>
            <a:r>
              <a:rPr lang="sr-Latn-RS" noProof="0" dirty="0"/>
              <a:t>Poređenje modela na više datasetova</a:t>
            </a:r>
          </a:p>
          <a:p>
            <a:r>
              <a:rPr lang="sr-Latn-RS" noProof="0" dirty="0"/>
              <a:t>Fokus</a:t>
            </a:r>
          </a:p>
          <a:p>
            <a:pPr lvl="1"/>
            <a:r>
              <a:rPr lang="sr-Latn-RS" noProof="0" dirty="0"/>
              <a:t>reproducibility, QC i leakage provera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sr-Latn-RS" noProof="0" smtClean="0"/>
              <a:pPr/>
              <a:t>2</a:t>
            </a:fld>
            <a:endParaRPr lang="sr-Latn-RS" noProof="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569A-C0DB-2C2F-1E23-D5080C6F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Koršćeni skupovi podataka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848BAB4-8B20-367A-BAA3-3FD64351045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5437144"/>
              </p:ext>
            </p:extLst>
          </p:nvPr>
        </p:nvGraphicFramePr>
        <p:xfrm>
          <a:off x="914399" y="2200275"/>
          <a:ext cx="9858376" cy="4014786"/>
        </p:xfrm>
        <a:graphic>
          <a:graphicData uri="http://schemas.openxmlformats.org/drawingml/2006/table">
            <a:tbl>
              <a:tblPr/>
              <a:tblGrid>
                <a:gridCol w="2464594">
                  <a:extLst>
                    <a:ext uri="{9D8B030D-6E8A-4147-A177-3AD203B41FA5}">
                      <a16:colId xmlns:a16="http://schemas.microsoft.com/office/drawing/2014/main" val="2367451278"/>
                    </a:ext>
                  </a:extLst>
                </a:gridCol>
                <a:gridCol w="2464594">
                  <a:extLst>
                    <a:ext uri="{9D8B030D-6E8A-4147-A177-3AD203B41FA5}">
                      <a16:colId xmlns:a16="http://schemas.microsoft.com/office/drawing/2014/main" val="55430601"/>
                    </a:ext>
                  </a:extLst>
                </a:gridCol>
                <a:gridCol w="2464594">
                  <a:extLst>
                    <a:ext uri="{9D8B030D-6E8A-4147-A177-3AD203B41FA5}">
                      <a16:colId xmlns:a16="http://schemas.microsoft.com/office/drawing/2014/main" val="713023244"/>
                    </a:ext>
                  </a:extLst>
                </a:gridCol>
                <a:gridCol w="2464594">
                  <a:extLst>
                    <a:ext uri="{9D8B030D-6E8A-4147-A177-3AD203B41FA5}">
                      <a16:colId xmlns:a16="http://schemas.microsoft.com/office/drawing/2014/main" val="601571591"/>
                    </a:ext>
                  </a:extLst>
                </a:gridCol>
              </a:tblGrid>
              <a:tr h="55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Dataset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Tip podataka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Problem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Broj uzoraka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340655"/>
                  </a:ext>
                </a:extLst>
              </a:tr>
              <a:tr h="969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Thyroid Recurrence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Tabelarni medicinski podaci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Predikcija recidiva raka štitne žlezde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~380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16277"/>
                  </a:ext>
                </a:extLst>
              </a:tr>
              <a:tr h="553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LC25000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Histopatološke slike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Klasifikacija plućnog tkiva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25 000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216203"/>
                  </a:ext>
                </a:extLst>
              </a:tr>
              <a:tr h="969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SIPaKMeD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Histopatološke slike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Klasifikacija ćelija grlića materice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~4000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897807"/>
                  </a:ext>
                </a:extLst>
              </a:tr>
              <a:tr h="969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RM1000 Lung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Histopatološke slike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Detekcija promena u plućnom tkivu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r-Latn-RS" sz="1200" noProof="0" dirty="0"/>
                        <a:t>~1000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604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65D43-E21E-5921-3483-1D7AD175D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sr-Latn-RS" noProof="0" smtClean="0"/>
              <a:pPr/>
              <a:t>3</a:t>
            </a:fld>
            <a:endParaRPr lang="sr-Latn-R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D53F1-E23F-4079-B0B3-68EE8B9C5D1A}"/>
              </a:ext>
            </a:extLst>
          </p:cNvPr>
          <p:cNvSpPr txBox="1"/>
          <p:nvPr/>
        </p:nvSpPr>
        <p:spPr>
          <a:xfrm>
            <a:off x="914399" y="6143087"/>
            <a:ext cx="985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noProof="0" dirty="0"/>
              <a:t>Dataset-ovi obuhvataju i tabelarne medicinske podatke i histopatološke slike.</a:t>
            </a:r>
          </a:p>
        </p:txBody>
      </p:sp>
    </p:spTree>
    <p:extLst>
      <p:ext uri="{BB962C8B-B14F-4D97-AF65-F5344CB8AC3E}">
        <p14:creationId xmlns:p14="http://schemas.microsoft.com/office/powerpoint/2010/main" val="29231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FB77-7200-4D9E-DBEF-3968D95B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Pipeline obrade i analize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8EF3D-0DF8-7E60-BEE3-161D2BFCF5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0696" y="2051790"/>
            <a:ext cx="7150608" cy="4506173"/>
          </a:xfrm>
        </p:spPr>
        <p:txBody>
          <a:bodyPr>
            <a:normAutofit lnSpcReduction="10000"/>
          </a:bodyPr>
          <a:lstStyle/>
          <a:p>
            <a:pPr algn="ctr"/>
            <a:r>
              <a:rPr lang="sr-Latn-RS" noProof="0" dirty="0"/>
              <a:t>Raw medicinski podaci</a:t>
            </a:r>
          </a:p>
          <a:p>
            <a:pPr algn="ctr"/>
            <a:endParaRPr lang="sr-Latn-RS" noProof="0" dirty="0"/>
          </a:p>
          <a:p>
            <a:pPr algn="ctr"/>
            <a:r>
              <a:rPr lang="sr-Latn-RS" noProof="0" dirty="0"/>
              <a:t>Čišćenje i standardizacija podataka</a:t>
            </a:r>
          </a:p>
          <a:p>
            <a:pPr algn="ctr"/>
            <a:endParaRPr lang="sr-Latn-RS" noProof="0" dirty="0"/>
          </a:p>
          <a:p>
            <a:pPr algn="ctr"/>
            <a:r>
              <a:rPr lang="sr-Latn-RS" noProof="0" dirty="0"/>
              <a:t>Quality control (QC)</a:t>
            </a:r>
            <a:br>
              <a:rPr lang="sr-Latn-RS" noProof="0" dirty="0"/>
            </a:br>
            <a:br>
              <a:rPr lang="sr-Latn-RS" noProof="0" dirty="0"/>
            </a:br>
            <a:endParaRPr lang="sr-Latn-RS" noProof="0" dirty="0"/>
          </a:p>
          <a:p>
            <a:pPr algn="ctr"/>
            <a:r>
              <a:rPr lang="sr-Latn-RS" noProof="0" dirty="0"/>
              <a:t>Stratifikovana podela (train / validation / test)</a:t>
            </a:r>
          </a:p>
          <a:p>
            <a:pPr algn="ctr"/>
            <a:endParaRPr lang="sr-Latn-RS" noProof="0" dirty="0"/>
          </a:p>
          <a:p>
            <a:pPr algn="ctr"/>
            <a:r>
              <a:rPr lang="sr-Latn-RS" noProof="0" dirty="0"/>
              <a:t>Treniranje modela</a:t>
            </a:r>
          </a:p>
          <a:p>
            <a:pPr algn="ctr"/>
            <a:endParaRPr lang="sr-Latn-RS" noProof="0" dirty="0"/>
          </a:p>
          <a:p>
            <a:pPr algn="ctr"/>
            <a:r>
              <a:rPr lang="sr-Latn-RS" noProof="0" dirty="0"/>
              <a:t>Evaluacija i poređenje rezultata</a:t>
            </a:r>
          </a:p>
          <a:p>
            <a:pPr algn="ctr"/>
            <a:endParaRPr lang="sr-Latn-R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2FAC5-EE1D-EBBA-C588-0805D41CF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sr-Latn-RS" noProof="0" smtClean="0"/>
              <a:pPr/>
              <a:t>4</a:t>
            </a:fld>
            <a:endParaRPr lang="sr-Latn-RS" noProof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49829F-8CEB-C964-1ACF-36C5D44FFD67}"/>
              </a:ext>
            </a:extLst>
          </p:cNvPr>
          <p:cNvCxnSpPr/>
          <p:nvPr/>
        </p:nvCxnSpPr>
        <p:spPr>
          <a:xfrm>
            <a:off x="6096000" y="2414588"/>
            <a:ext cx="0" cy="41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48BF67-8964-51DC-1D41-9650E011EB6B}"/>
              </a:ext>
            </a:extLst>
          </p:cNvPr>
          <p:cNvCxnSpPr/>
          <p:nvPr/>
        </p:nvCxnSpPr>
        <p:spPr>
          <a:xfrm>
            <a:off x="6115050" y="3195638"/>
            <a:ext cx="0" cy="41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290C27-C6D2-CEF8-76BF-D87C771F7CAA}"/>
              </a:ext>
            </a:extLst>
          </p:cNvPr>
          <p:cNvCxnSpPr/>
          <p:nvPr/>
        </p:nvCxnSpPr>
        <p:spPr>
          <a:xfrm>
            <a:off x="6119812" y="3881438"/>
            <a:ext cx="0" cy="41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3ADD60-4EA6-A4D5-8E31-D74E4A2E9AE4}"/>
              </a:ext>
            </a:extLst>
          </p:cNvPr>
          <p:cNvCxnSpPr/>
          <p:nvPr/>
        </p:nvCxnSpPr>
        <p:spPr>
          <a:xfrm>
            <a:off x="6119812" y="4752976"/>
            <a:ext cx="0" cy="41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B1ED2E-5290-7B31-3D57-722B1DBC11ED}"/>
              </a:ext>
            </a:extLst>
          </p:cNvPr>
          <p:cNvCxnSpPr/>
          <p:nvPr/>
        </p:nvCxnSpPr>
        <p:spPr>
          <a:xfrm>
            <a:off x="6148387" y="5465467"/>
            <a:ext cx="0" cy="41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06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7970-5163-818C-7972-40A762B6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Podela podataka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076957-00C3-1E9A-A4B5-030F24109F6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00967846"/>
              </p:ext>
            </p:extLst>
          </p:nvPr>
        </p:nvGraphicFramePr>
        <p:xfrm>
          <a:off x="4681728" y="1828800"/>
          <a:ext cx="7150100" cy="3357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24FFC-16CA-0C94-33B7-DB50F945F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sr-Latn-RS" noProof="0" smtClean="0"/>
              <a:pPr/>
              <a:t>5</a:t>
            </a:fld>
            <a:endParaRPr lang="sr-Latn-R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BAEEE8-5D0A-8EF7-AEFE-AD0E1550669E}"/>
              </a:ext>
            </a:extLst>
          </p:cNvPr>
          <p:cNvSpPr txBox="1"/>
          <p:nvPr/>
        </p:nvSpPr>
        <p:spPr>
          <a:xfrm>
            <a:off x="914400" y="2967334"/>
            <a:ext cx="5010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noProof="0" dirty="0"/>
              <a:t>Stratified split (očuvana raspodela klase)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noProof="0" dirty="0"/>
              <a:t>Random seed = 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noProof="0" dirty="0"/>
              <a:t>isti princip primenjen na sve datasetove</a:t>
            </a:r>
          </a:p>
        </p:txBody>
      </p:sp>
    </p:spTree>
    <p:extLst>
      <p:ext uri="{BB962C8B-B14F-4D97-AF65-F5344CB8AC3E}">
        <p14:creationId xmlns:p14="http://schemas.microsoft.com/office/powerpoint/2010/main" val="576923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0B7E8F-E0BD-ABBB-7A78-89397B62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Korišćeni modeli mašinskog učenja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737C0-3D92-27E6-DD94-4C75FF49C8D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sr-Latn-RS" b="1" noProof="0" dirty="0"/>
              <a:t>Modeli za tabelarne podatke</a:t>
            </a:r>
          </a:p>
          <a:p>
            <a:r>
              <a:rPr lang="sr-Latn-RS" noProof="0" dirty="0"/>
              <a:t>• Logistic Regression</a:t>
            </a:r>
            <a:br>
              <a:rPr lang="sr-Latn-RS" noProof="0" dirty="0"/>
            </a:br>
            <a:r>
              <a:rPr lang="sr-Latn-RS" noProof="0" dirty="0"/>
              <a:t>• Random Forest</a:t>
            </a:r>
            <a:br>
              <a:rPr lang="sr-Latn-RS" noProof="0" dirty="0"/>
            </a:br>
            <a:r>
              <a:rPr lang="sr-Latn-RS" noProof="0" dirty="0"/>
              <a:t>• Gradient Boosting / XGBoost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16027E-C381-424F-4896-1BB251D91C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sr-Latn-RS" b="1" noProof="0" dirty="0"/>
              <a:t>Modeli za slikovne podatke</a:t>
            </a:r>
          </a:p>
          <a:p>
            <a:r>
              <a:rPr lang="sr-Latn-RS" noProof="0" dirty="0"/>
              <a:t>• Convolutional Neural Network (CNN)</a:t>
            </a:r>
            <a:br>
              <a:rPr lang="sr-Latn-RS" noProof="0" dirty="0"/>
            </a:br>
            <a:r>
              <a:rPr lang="sr-Latn-RS" noProof="0" dirty="0"/>
              <a:t>• Transfer learning pristup</a:t>
            </a:r>
            <a:br>
              <a:rPr lang="sr-Latn-RS" noProof="0" dirty="0"/>
            </a:br>
            <a:r>
              <a:rPr lang="sr-Latn-RS" noProof="0" dirty="0"/>
              <a:t>• ResNet arhitektura</a:t>
            </a:r>
          </a:p>
          <a:p>
            <a:endParaRPr lang="sr-Latn-R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C83E2-BC84-DE8C-AA9F-CA8069EAC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sr-Latn-RS" noProof="0" smtClean="0"/>
              <a:pPr/>
              <a:t>6</a:t>
            </a:fld>
            <a:endParaRPr lang="sr-Latn-RS" noProof="0" dirty="0"/>
          </a:p>
        </p:txBody>
      </p:sp>
    </p:spTree>
    <p:extLst>
      <p:ext uri="{BB962C8B-B14F-4D97-AF65-F5344CB8AC3E}">
        <p14:creationId xmlns:p14="http://schemas.microsoft.com/office/powerpoint/2010/main" val="423176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82AD-C2CC-9E0F-03B0-EDAFCA97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Metrike evaluacije modela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EC5FF-7252-6718-3B8E-C9DA7AAFF1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sr-Latn-RS" b="1" noProof="0" dirty="0"/>
              <a:t>Accuracy</a:t>
            </a:r>
            <a:r>
              <a:rPr lang="sr-Latn-RS" noProof="0" dirty="0"/>
              <a:t> – ukupna tačnost klasifikacije</a:t>
            </a:r>
          </a:p>
          <a:p>
            <a:r>
              <a:rPr lang="sr-Latn-RS" b="1" noProof="0" dirty="0"/>
              <a:t>Precision</a:t>
            </a:r>
            <a:r>
              <a:rPr lang="sr-Latn-RS" noProof="0" dirty="0"/>
              <a:t> – koliko su pozitivne predikcije tačne</a:t>
            </a:r>
          </a:p>
          <a:p>
            <a:r>
              <a:rPr lang="sr-Latn-RS" b="1" noProof="0" dirty="0"/>
              <a:t>Recall (Sensitivity)</a:t>
            </a:r>
            <a:r>
              <a:rPr lang="sr-Latn-RS" noProof="0" dirty="0"/>
              <a:t> – koliko stvarnih pozitivnih slučajeva model prepoznaje</a:t>
            </a:r>
          </a:p>
          <a:p>
            <a:r>
              <a:rPr lang="sr-Latn-RS" b="1" noProof="0" dirty="0"/>
              <a:t>F1-score</a:t>
            </a:r>
            <a:r>
              <a:rPr lang="sr-Latn-RS" noProof="0" dirty="0"/>
              <a:t> – balans između precision i recall</a:t>
            </a:r>
          </a:p>
          <a:p>
            <a:r>
              <a:rPr lang="sr-Latn-RS" b="1" noProof="0" dirty="0"/>
              <a:t>Confusion matrix</a:t>
            </a:r>
            <a:r>
              <a:rPr lang="sr-Latn-RS" noProof="0" dirty="0"/>
              <a:t> – vizuelni prikaz tačnih i pogrešnih klasifikacija</a:t>
            </a:r>
          </a:p>
          <a:p>
            <a:endParaRPr 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4D1C-F6FC-1DB9-9D58-FE40AAFE7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11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5E3E-7E15-73DA-B082-2A390217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0" dirty="0"/>
              <a:t>Rezultati modela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0DB8A93-AB35-5BC9-2768-651063A31BC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297099658"/>
              </p:ext>
            </p:extLst>
          </p:nvPr>
        </p:nvGraphicFramePr>
        <p:xfrm>
          <a:off x="914400" y="2228850"/>
          <a:ext cx="10439400" cy="3371850"/>
        </p:xfrm>
        <a:graphic>
          <a:graphicData uri="http://schemas.openxmlformats.org/drawingml/2006/table">
            <a:tbl>
              <a:tblPr/>
              <a:tblGrid>
                <a:gridCol w="3479800">
                  <a:extLst>
                    <a:ext uri="{9D8B030D-6E8A-4147-A177-3AD203B41FA5}">
                      <a16:colId xmlns:a16="http://schemas.microsoft.com/office/drawing/2014/main" val="451961197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587234509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4280274043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Model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Accuracy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F1-score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42337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Logistic Regression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0.81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0.79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18405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Random Forest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0.87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0.85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83000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Gradient Boosting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0.89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0.87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74345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CNN (ResNet)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0.92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0.90</a:t>
                      </a:r>
                    </a:p>
                  </a:txBody>
                  <a:tcPr marL="62175" marR="62175" marT="31087" marB="310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4603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B2DD6-0177-21F6-99E2-BAEA150A1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0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378C-8AA3-1598-4D19-683B1717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Kontrola kvaliteta podataka i data leakage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643B-541E-5410-F35F-5A6431FFFA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306574"/>
            <a:ext cx="4576953" cy="1389888"/>
          </a:xfrm>
        </p:spPr>
        <p:txBody>
          <a:bodyPr/>
          <a:lstStyle/>
          <a:p>
            <a:r>
              <a:rPr lang="sr-Latn-RS" b="1" noProof="0" dirty="0"/>
              <a:t>Kontrola kvaliteta podataka</a:t>
            </a:r>
          </a:p>
          <a:p>
            <a:r>
              <a:rPr lang="sr-Latn-RS" noProof="0" dirty="0"/>
              <a:t>• Provera nedostajućih vrednosti</a:t>
            </a:r>
            <a:br>
              <a:rPr lang="sr-Latn-RS" noProof="0" dirty="0"/>
            </a:br>
            <a:r>
              <a:rPr lang="sr-Latn-RS" noProof="0" dirty="0"/>
              <a:t>• Provera distribucije klasa</a:t>
            </a:r>
            <a:br>
              <a:rPr lang="sr-Latn-RS" noProof="0" dirty="0"/>
            </a:br>
            <a:r>
              <a:rPr lang="sr-Latn-RS" noProof="0" dirty="0"/>
              <a:t>• Standardizacija ulaznih podataka</a:t>
            </a:r>
          </a:p>
          <a:p>
            <a:endParaRPr lang="sr-Latn-R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57048-BF8C-C1DA-0668-B8DE818001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72035" y="2206561"/>
            <a:ext cx="4576953" cy="1589913"/>
          </a:xfrm>
        </p:spPr>
        <p:txBody>
          <a:bodyPr/>
          <a:lstStyle/>
          <a:p>
            <a:r>
              <a:rPr lang="sr-Latn-RS" b="1" noProof="0" dirty="0"/>
              <a:t>Provera data leakage-a</a:t>
            </a:r>
          </a:p>
          <a:p>
            <a:r>
              <a:rPr lang="sr-Latn-RS" noProof="0" dirty="0"/>
              <a:t>• Razdvajanje train / validation / test skupova</a:t>
            </a:r>
            <a:br>
              <a:rPr lang="sr-Latn-RS" noProof="0" dirty="0"/>
            </a:br>
            <a:r>
              <a:rPr lang="sr-Latn-RS" noProof="0" dirty="0"/>
              <a:t>• Stratifikovana podela podataka</a:t>
            </a:r>
            <a:br>
              <a:rPr lang="sr-Latn-RS" noProof="0" dirty="0"/>
            </a:br>
            <a:r>
              <a:rPr lang="sr-Latn-RS" noProof="0" dirty="0"/>
              <a:t>• Evaluacija samo na test skupu</a:t>
            </a:r>
          </a:p>
          <a:p>
            <a:endParaRPr lang="sr-Latn-R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6F972-7FAB-F75C-A4ED-20B915EB6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5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70E6-6884-2C76-4F91-D22F01EE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F998-3C55-D2ED-F8C1-E7D9772D16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sr-Latn-RS" noProof="0" dirty="0"/>
              <a:t>Metode mašinskog učenja mogu uspešno da se primene na medicinskim podacima za klasifikaciju i analizu.</a:t>
            </a:r>
          </a:p>
          <a:p>
            <a:r>
              <a:rPr lang="sr-Latn-RS" noProof="0" dirty="0"/>
              <a:t>Rezultati pokazuju da kompleksniji modeli (ansambl metode i CNN) postižu bolje performanse na složenijim datasetovima.</a:t>
            </a:r>
          </a:p>
          <a:p>
            <a:r>
              <a:rPr lang="sr-Latn-RS" noProof="0" dirty="0"/>
              <a:t>Kvalitet pripreme podataka i pravilna evaluacija modela imaju ključnu ulogu u pouzdanosti rezultata.</a:t>
            </a:r>
          </a:p>
          <a:p>
            <a:r>
              <a:rPr lang="sr-Latn-RS" noProof="0" dirty="0"/>
              <a:t>Predloženi pipeline omogućava ponovljiv i transparentan proces analize medicinskih podataka.</a:t>
            </a:r>
          </a:p>
          <a:p>
            <a:endParaRPr 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52A05-8776-9D73-B257-EAFB509B8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C18C-4C0B-DF3D-BA8F-56E4C0AE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Mogućnost za dalji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A3A3-4BE1-0FC8-2C7D-CBDFDD1251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sr-Latn-RS" noProof="0" dirty="0"/>
              <a:t>Korišćenje većih i raznovrsnijih medicinskih datasetova</a:t>
            </a:r>
          </a:p>
          <a:p>
            <a:r>
              <a:rPr lang="sr-Latn-RS" noProof="0" dirty="0"/>
              <a:t>Primena naprednijih dubokih neuronskih mreža</a:t>
            </a:r>
          </a:p>
          <a:p>
            <a:r>
              <a:rPr lang="sr-Latn-RS" noProof="0" dirty="0"/>
              <a:t>Interpretacija modela (Explainable AI)</a:t>
            </a:r>
          </a:p>
          <a:p>
            <a:r>
              <a:rPr lang="sr-Latn-RS" noProof="0" dirty="0"/>
              <a:t>Integracija ovakvih modela u realne medicinske sisteme</a:t>
            </a:r>
          </a:p>
          <a:p>
            <a:endParaRPr 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DECE6-07B3-D767-AEA0-1757F7FE7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720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noProof="0" dirty="0"/>
              <a:t>Hvala na pažnji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sr-Latn-RS" noProof="0"/>
              <a:t>Stefan Milić</a:t>
            </a:r>
            <a:endParaRPr lang="sr-Latn-RS" noProof="0" dirty="0"/>
          </a:p>
          <a:p>
            <a:r>
              <a:rPr lang="sr-Latn-RS" dirty="0"/>
              <a:t>Računarski faklutet</a:t>
            </a:r>
          </a:p>
          <a:p>
            <a:r>
              <a:rPr lang="sr-Latn-RS" noProof="0" dirty="0"/>
              <a:t>27. Mart 2026.</a:t>
            </a:r>
          </a:p>
          <a:p>
            <a:endParaRPr lang="sr-Latn-RS" noProof="0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{0C5C055B-634C-40D4-B25A-6EEAD1DAEA1C}TF1ed9553b-00c4-4092-846a-c8f7f2908f3beecd942f_win32-8e33096c3cfc</Template>
  <TotalTime>239</TotalTime>
  <Words>448</Words>
  <Application>Microsoft Office PowerPoint</Application>
  <PresentationFormat>Widescreen</PresentationFormat>
  <Paragraphs>114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Open Sans</vt:lpstr>
      <vt:lpstr>Sagona Book</vt:lpstr>
      <vt:lpstr>Custom</vt:lpstr>
      <vt:lpstr>Evaluacija i poređenje modela mašinskog učenja na heterogenim onkološkim datasetovima</vt:lpstr>
      <vt:lpstr>Motivacija i cilj</vt:lpstr>
      <vt:lpstr>Koršćeni skupovi podataka</vt:lpstr>
      <vt:lpstr>Pipeline obrade i analize podataka</vt:lpstr>
      <vt:lpstr>Podela podataka</vt:lpstr>
      <vt:lpstr>Korišćeni modeli mašinskog učenja</vt:lpstr>
      <vt:lpstr>Metrike evaluacije modela</vt:lpstr>
      <vt:lpstr>Rezultati modela</vt:lpstr>
      <vt:lpstr>Kontrola kvaliteta podataka i data leakage</vt:lpstr>
      <vt:lpstr>Zaključak</vt:lpstr>
      <vt:lpstr>Mogućnost za dalji rad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Milic</dc:creator>
  <cp:lastModifiedBy>Milic</cp:lastModifiedBy>
  <cp:revision>3</cp:revision>
  <dcterms:created xsi:type="dcterms:W3CDTF">2026-03-23T07:21:12Z</dcterms:created>
  <dcterms:modified xsi:type="dcterms:W3CDTF">2026-03-23T11:20:30Z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